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Average"/>
      <p:regular r:id="rId20"/>
    </p:embeddedFont>
    <p:embeddedFont>
      <p:font typeface="Oswal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verage-regular.fntdata"/><Relationship Id="rId11" Type="http://schemas.openxmlformats.org/officeDocument/2006/relationships/slide" Target="slides/slide6.xml"/><Relationship Id="rId22" Type="http://schemas.openxmlformats.org/officeDocument/2006/relationships/font" Target="fonts/Oswald-bold.fntdata"/><Relationship Id="rId10" Type="http://schemas.openxmlformats.org/officeDocument/2006/relationships/slide" Target="slides/slide5.xml"/><Relationship Id="rId21" Type="http://schemas.openxmlformats.org/officeDocument/2006/relationships/font" Target="fonts/Oswald-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8b6da207f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8b6da207f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98b6da207f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98b6da207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8b6da207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8b6da207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8b6da207f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8b6da207f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8b6da207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8b6da207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8b6da207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8b6da207f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8b6da207f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8b6da207f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8b6da207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8b6da207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8b6da207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8b6da207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8b6da207f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8b6da207f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8b6da207f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8b6da207f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8b6da207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8b6da207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8b6da207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8b6da207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990"/>
              <a:buFont typeface="Arial"/>
              <a:buNone/>
            </a:pPr>
            <a:r>
              <a:rPr lang="en" sz="3080"/>
              <a:t>Source Code Authorship Attribution and Verification under</a:t>
            </a:r>
            <a:endParaRPr sz="3080"/>
          </a:p>
          <a:p>
            <a:pPr indent="0" lvl="0" marL="0" rtl="0" algn="ctr">
              <a:spcBef>
                <a:spcPts val="0"/>
              </a:spcBef>
              <a:spcAft>
                <a:spcPts val="0"/>
              </a:spcAft>
              <a:buClr>
                <a:srgbClr val="000000"/>
              </a:buClr>
              <a:buSzPts val="990"/>
              <a:buFont typeface="Arial"/>
              <a:buNone/>
            </a:pPr>
            <a:r>
              <a:rPr lang="en" sz="3080"/>
              <a:t>Adversarial Conditions</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sz="2400"/>
              <a:t>Team 16: Elang Sisson and Andrew Varkey</a:t>
            </a:r>
            <a:endParaRPr sz="2400"/>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Project Purpose: Investigate the robustness of source code authorship attribution systems </a:t>
            </a:r>
            <a:r>
              <a:rPr lang="en"/>
              <a:t>against</a:t>
            </a:r>
            <a:r>
              <a:rPr lang="en"/>
              <a:t> adversarial attacks </a:t>
            </a:r>
            <a:r>
              <a:rPr lang="en"/>
              <a:t>through</a:t>
            </a:r>
            <a:r>
              <a:rPr lang="en"/>
              <a:t> misattribution and evasion </a:t>
            </a:r>
            <a:r>
              <a:rPr lang="en"/>
              <a:t>techniques</a:t>
            </a:r>
            <a:r>
              <a:rPr lang="en"/>
              <a:t>.</a:t>
            </a:r>
            <a:endParaRPr/>
          </a:p>
          <a:p>
            <a:pPr indent="-342900" lvl="0" marL="457200" rtl="0" algn="l">
              <a:spcBef>
                <a:spcPts val="0"/>
              </a:spcBef>
              <a:spcAft>
                <a:spcPts val="0"/>
              </a:spcAft>
              <a:buSzPts val="1800"/>
              <a:buChar char="●"/>
            </a:pPr>
            <a:r>
              <a:rPr lang="en"/>
              <a:t>Sprint 2 Goals:</a:t>
            </a:r>
            <a:endParaRPr/>
          </a:p>
          <a:p>
            <a:pPr indent="-317500" lvl="1" marL="914400" rtl="0" algn="l">
              <a:spcBef>
                <a:spcPts val="0"/>
              </a:spcBef>
              <a:spcAft>
                <a:spcPts val="0"/>
              </a:spcAft>
              <a:buSzPts val="1400"/>
              <a:buChar char="○"/>
            </a:pPr>
            <a:r>
              <a:rPr lang="en"/>
              <a:t>Finish</a:t>
            </a:r>
            <a:r>
              <a:rPr lang="en"/>
              <a:t> Threat Model Documentations and Expand evasion techniques</a:t>
            </a:r>
            <a:endParaRPr/>
          </a:p>
          <a:p>
            <a:pPr indent="-317500" lvl="1" marL="914400" rtl="0" algn="l">
              <a:spcBef>
                <a:spcPts val="0"/>
              </a:spcBef>
              <a:spcAft>
                <a:spcPts val="0"/>
              </a:spcAft>
              <a:buSzPts val="1400"/>
              <a:buChar char="○"/>
            </a:pPr>
            <a:r>
              <a:rPr lang="en"/>
              <a:t>Establish an </a:t>
            </a:r>
            <a:r>
              <a:rPr lang="en"/>
              <a:t>initial</a:t>
            </a:r>
            <a:r>
              <a:rPr lang="en"/>
              <a:t> misattribution with the models</a:t>
            </a:r>
            <a:endParaRPr/>
          </a:p>
          <a:p>
            <a:pPr indent="-317500" lvl="1" marL="914400" rtl="0" algn="l">
              <a:spcBef>
                <a:spcPts val="0"/>
              </a:spcBef>
              <a:spcAft>
                <a:spcPts val="0"/>
              </a:spcAft>
              <a:buSzPts val="1400"/>
              <a:buChar char="○"/>
            </a:pPr>
            <a:r>
              <a:rPr lang="en"/>
              <a:t>Analyze causes of misattribution in depth</a:t>
            </a:r>
            <a:endParaRPr/>
          </a:p>
          <a:p>
            <a:pPr indent="-342900" lvl="0" marL="457200" rtl="0" algn="l">
              <a:spcBef>
                <a:spcPts val="0"/>
              </a:spcBef>
              <a:spcAft>
                <a:spcPts val="0"/>
              </a:spcAft>
              <a:buSzPts val="1800"/>
              <a:buChar char="●"/>
            </a:pPr>
            <a:r>
              <a:rPr lang="en"/>
              <a:t>Team Roles</a:t>
            </a:r>
            <a:endParaRPr/>
          </a:p>
          <a:p>
            <a:pPr indent="-317500" lvl="1" marL="914400" rtl="0" algn="l">
              <a:spcBef>
                <a:spcPts val="0"/>
              </a:spcBef>
              <a:spcAft>
                <a:spcPts val="0"/>
              </a:spcAft>
              <a:buSzPts val="1400"/>
              <a:buChar char="○"/>
            </a:pPr>
            <a:r>
              <a:rPr lang="en"/>
              <a:t>Elang Sisson - Adversarial Attack Implementation &amp; Testing</a:t>
            </a:r>
            <a:endParaRPr/>
          </a:p>
          <a:p>
            <a:pPr indent="-317500" lvl="1" marL="914400" rtl="0" algn="l">
              <a:spcBef>
                <a:spcPts val="0"/>
              </a:spcBef>
              <a:spcAft>
                <a:spcPts val="0"/>
              </a:spcAft>
              <a:buSzPts val="1400"/>
              <a:buChar char="○"/>
            </a:pPr>
            <a:r>
              <a:rPr lang="en"/>
              <a:t>Andrew Varkey - </a:t>
            </a:r>
            <a:r>
              <a:rPr lang="en"/>
              <a:t>Adversarial Attack Implementation &amp; Testing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Sprint 2 Objectives </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Defined Objectives:</a:t>
            </a:r>
            <a:endParaRPr/>
          </a:p>
          <a:p>
            <a:pPr indent="-304165" lvl="1" marL="914400" rtl="0" algn="l">
              <a:spcBef>
                <a:spcPts val="0"/>
              </a:spcBef>
              <a:spcAft>
                <a:spcPts val="0"/>
              </a:spcAft>
              <a:buSzPct val="100000"/>
              <a:buChar char="○"/>
            </a:pPr>
            <a:r>
              <a:rPr lang="en"/>
              <a:t>Train authorship attribution classifiers on given dataset</a:t>
            </a:r>
            <a:endParaRPr/>
          </a:p>
          <a:p>
            <a:pPr indent="-304165" lvl="1" marL="914400" rtl="0" algn="l">
              <a:spcBef>
                <a:spcPts val="0"/>
              </a:spcBef>
              <a:spcAft>
                <a:spcPts val="0"/>
              </a:spcAft>
              <a:buSzPct val="100000"/>
              <a:buChar char="○"/>
            </a:pPr>
            <a:r>
              <a:rPr lang="en"/>
              <a:t>Establish a baseline attribution by modifying source code</a:t>
            </a:r>
            <a:endParaRPr/>
          </a:p>
          <a:p>
            <a:pPr indent="-304165" lvl="1" marL="914400" rtl="0" algn="l">
              <a:spcBef>
                <a:spcPts val="0"/>
              </a:spcBef>
              <a:spcAft>
                <a:spcPts val="0"/>
              </a:spcAft>
              <a:buSzPct val="100000"/>
              <a:buChar char="○"/>
            </a:pPr>
            <a:r>
              <a:rPr lang="en"/>
              <a:t>Analyze causes of misattribution in </a:t>
            </a:r>
            <a:endParaRPr/>
          </a:p>
          <a:p>
            <a:pPr indent="-304165" lvl="1" marL="914400" rtl="0" algn="l">
              <a:spcBef>
                <a:spcPts val="0"/>
              </a:spcBef>
              <a:spcAft>
                <a:spcPts val="0"/>
              </a:spcAft>
              <a:buSzPct val="100000"/>
              <a:buChar char="○"/>
            </a:pPr>
            <a:r>
              <a:rPr lang="en"/>
              <a:t>Define testing framework for future adversarial evaluation</a:t>
            </a:r>
            <a:endParaRPr/>
          </a:p>
          <a:p>
            <a:pPr indent="-325755" lvl="0" marL="457200" rtl="0" algn="l">
              <a:spcBef>
                <a:spcPts val="0"/>
              </a:spcBef>
              <a:spcAft>
                <a:spcPts val="0"/>
              </a:spcAft>
              <a:buSzPct val="100000"/>
              <a:buChar char="●"/>
            </a:pPr>
            <a:r>
              <a:rPr lang="en"/>
              <a:t>Key Goals and Rationale:</a:t>
            </a:r>
            <a:endParaRPr/>
          </a:p>
          <a:p>
            <a:pPr indent="-304165" lvl="1" marL="914400" rtl="0" algn="l">
              <a:spcBef>
                <a:spcPts val="0"/>
              </a:spcBef>
              <a:spcAft>
                <a:spcPts val="0"/>
              </a:spcAft>
              <a:buSzPct val="100000"/>
              <a:buChar char="○"/>
            </a:pPr>
            <a:r>
              <a:rPr lang="en"/>
              <a:t>Feature Engineering</a:t>
            </a:r>
            <a:endParaRPr/>
          </a:p>
          <a:p>
            <a:pPr indent="-304164" lvl="2" marL="1371600" rtl="0" algn="l">
              <a:spcBef>
                <a:spcPts val="0"/>
              </a:spcBef>
              <a:spcAft>
                <a:spcPts val="0"/>
              </a:spcAft>
              <a:buSzPct val="100000"/>
              <a:buChar char="■"/>
            </a:pPr>
            <a:r>
              <a:rPr lang="en"/>
              <a:t>Extract code </a:t>
            </a:r>
            <a:r>
              <a:rPr lang="en"/>
              <a:t>stylistic</a:t>
            </a:r>
            <a:r>
              <a:rPr lang="en"/>
              <a:t> features (naming conventions, indentations, comments)</a:t>
            </a:r>
            <a:endParaRPr/>
          </a:p>
          <a:p>
            <a:pPr indent="-304164" lvl="2" marL="1371600" rtl="0" algn="l">
              <a:spcBef>
                <a:spcPts val="0"/>
              </a:spcBef>
              <a:spcAft>
                <a:spcPts val="0"/>
              </a:spcAft>
              <a:buSzPct val="100000"/>
              <a:buChar char="■"/>
            </a:pPr>
            <a:r>
              <a:rPr lang="en"/>
              <a:t>Rationale: </a:t>
            </a:r>
            <a:r>
              <a:rPr lang="en"/>
              <a:t>Capture</a:t>
            </a:r>
            <a:r>
              <a:rPr lang="en"/>
              <a:t> both content and </a:t>
            </a:r>
            <a:r>
              <a:rPr lang="en"/>
              <a:t>stylistic</a:t>
            </a:r>
            <a:r>
              <a:rPr lang="en"/>
              <a:t> signatures for accurate attribution</a:t>
            </a:r>
            <a:endParaRPr/>
          </a:p>
          <a:p>
            <a:pPr indent="-304165" lvl="1" marL="914400" rtl="0" algn="l">
              <a:spcBef>
                <a:spcPts val="0"/>
              </a:spcBef>
              <a:spcAft>
                <a:spcPts val="0"/>
              </a:spcAft>
              <a:buSzPct val="100000"/>
              <a:buChar char="○"/>
            </a:pPr>
            <a:r>
              <a:rPr lang="en"/>
              <a:t>Model Persistence</a:t>
            </a:r>
            <a:endParaRPr/>
          </a:p>
          <a:p>
            <a:pPr indent="-304164" lvl="2" marL="1371600" rtl="0" algn="l">
              <a:spcBef>
                <a:spcPts val="0"/>
              </a:spcBef>
              <a:spcAft>
                <a:spcPts val="0"/>
              </a:spcAft>
              <a:buSzPct val="100000"/>
              <a:buChar char="■"/>
            </a:pPr>
            <a:r>
              <a:rPr lang="en"/>
              <a:t>Track trained models, vectorizers, scalers, and feature selectors</a:t>
            </a:r>
            <a:endParaRPr/>
          </a:p>
          <a:p>
            <a:pPr indent="-304164" lvl="2" marL="1371600" rtl="0" algn="l">
              <a:spcBef>
                <a:spcPts val="0"/>
              </a:spcBef>
              <a:spcAft>
                <a:spcPts val="0"/>
              </a:spcAft>
              <a:buSzPct val="100000"/>
              <a:buChar char="■"/>
            </a:pPr>
            <a:r>
              <a:rPr lang="en"/>
              <a:t>Rationale: Allow consistent adversarial testing without retraining the models</a:t>
            </a:r>
            <a:endParaRPr/>
          </a:p>
          <a:p>
            <a:pPr indent="-325755" lvl="0" marL="457200" rtl="0" algn="l">
              <a:spcBef>
                <a:spcPts val="0"/>
              </a:spcBef>
              <a:spcAft>
                <a:spcPts val="0"/>
              </a:spcAft>
              <a:buSzPct val="100000"/>
              <a:buChar char="●"/>
            </a:pPr>
            <a:r>
              <a:rPr lang="en"/>
              <a:t>Connection to Overall Vision:</a:t>
            </a:r>
            <a:endParaRPr/>
          </a:p>
          <a:p>
            <a:pPr indent="-304165" lvl="1" marL="914400" rtl="0" algn="l">
              <a:spcBef>
                <a:spcPts val="0"/>
              </a:spcBef>
              <a:spcAft>
                <a:spcPts val="0"/>
              </a:spcAft>
              <a:buSzPct val="100000"/>
              <a:buChar char="○"/>
            </a:pPr>
            <a:r>
              <a:rPr lang="en"/>
              <a:t>Sprint 2 helps us establish a baseline attribution system and attack method. This groundwork is important in measuring evasion and misattributions rates in our models.</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Implementation </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Implemented both by Elang and Andrew:</a:t>
            </a:r>
            <a:endParaRPr/>
          </a:p>
          <a:p>
            <a:pPr indent="0" lvl="0" marL="0" rtl="0" algn="l">
              <a:spcBef>
                <a:spcPts val="1200"/>
              </a:spcBef>
              <a:spcAft>
                <a:spcPts val="0"/>
              </a:spcAft>
              <a:buNone/>
            </a:pPr>
            <a:r>
              <a:rPr lang="en"/>
              <a:t>Before:</a:t>
            </a:r>
            <a:endParaRPr/>
          </a:p>
          <a:p>
            <a:pPr indent="-308610" lvl="0" marL="457200" rtl="0" algn="l">
              <a:spcBef>
                <a:spcPts val="1200"/>
              </a:spcBef>
              <a:spcAft>
                <a:spcPts val="0"/>
              </a:spcAft>
              <a:buSzPct val="100000"/>
              <a:buChar char="●"/>
            </a:pPr>
            <a:r>
              <a:rPr lang="en"/>
              <a:t>Unfinished Threat Model</a:t>
            </a:r>
            <a:endParaRPr/>
          </a:p>
          <a:p>
            <a:pPr indent="-308610" lvl="0" marL="457200" rtl="0" algn="l">
              <a:spcBef>
                <a:spcPts val="0"/>
              </a:spcBef>
              <a:spcAft>
                <a:spcPts val="0"/>
              </a:spcAft>
              <a:buSzPct val="100000"/>
              <a:buChar char="●"/>
            </a:pPr>
            <a:r>
              <a:rPr lang="en"/>
              <a:t>No model or data to perform </a:t>
            </a:r>
            <a:r>
              <a:rPr lang="en"/>
              <a:t>stylometry</a:t>
            </a:r>
            <a:r>
              <a:rPr lang="en"/>
              <a:t> attribution evasion attack techniques</a:t>
            </a:r>
            <a:endParaRPr/>
          </a:p>
          <a:p>
            <a:pPr indent="0" lvl="0" marL="0" rtl="0" algn="l">
              <a:spcBef>
                <a:spcPts val="1200"/>
              </a:spcBef>
              <a:spcAft>
                <a:spcPts val="0"/>
              </a:spcAft>
              <a:buNone/>
            </a:pPr>
            <a:r>
              <a:rPr lang="en"/>
              <a:t>After:</a:t>
            </a:r>
            <a:endParaRPr/>
          </a:p>
          <a:p>
            <a:pPr indent="-308610" lvl="0" marL="457200" rtl="0" algn="l">
              <a:spcBef>
                <a:spcPts val="1200"/>
              </a:spcBef>
              <a:spcAft>
                <a:spcPts val="0"/>
              </a:spcAft>
              <a:buSzPct val="100000"/>
              <a:buChar char="●"/>
            </a:pPr>
            <a:r>
              <a:rPr lang="en"/>
              <a:t>Finished Threat Model that highlights the different stylometry evasion attack techniques and how to mitigate them</a:t>
            </a:r>
            <a:endParaRPr/>
          </a:p>
          <a:p>
            <a:pPr indent="-308610" lvl="0" marL="457200" rtl="0" algn="l">
              <a:spcBef>
                <a:spcPts val="0"/>
              </a:spcBef>
              <a:spcAft>
                <a:spcPts val="0"/>
              </a:spcAft>
              <a:buSzPct val="100000"/>
              <a:buChar char="●"/>
            </a:pPr>
            <a:r>
              <a:rPr lang="en"/>
              <a:t>Model that attributes source code based on 4 classifiers.</a:t>
            </a:r>
            <a:endParaRPr/>
          </a:p>
          <a:p>
            <a:pPr indent="-308610" lvl="0" marL="457200" rtl="0" algn="l">
              <a:spcBef>
                <a:spcPts val="0"/>
              </a:spcBef>
              <a:spcAft>
                <a:spcPts val="0"/>
              </a:spcAft>
              <a:buSzPct val="100000"/>
              <a:buChar char="●"/>
            </a:pPr>
            <a:r>
              <a:rPr lang="en"/>
              <a:t>Dataset consisting of test data and training data</a:t>
            </a:r>
            <a:endParaRPr/>
          </a:p>
          <a:p>
            <a:pPr indent="0" lvl="0" marL="0" rtl="0" algn="l">
              <a:spcBef>
                <a:spcPts val="1200"/>
              </a:spcBef>
              <a:spcAft>
                <a:spcPts val="0"/>
              </a:spcAft>
              <a:buNone/>
            </a:pPr>
            <a:r>
              <a:rPr lang="en"/>
              <a:t>Validation: </a:t>
            </a:r>
            <a:endParaRPr/>
          </a:p>
          <a:p>
            <a:pPr indent="-308610" lvl="0" marL="457200" rtl="0" algn="l">
              <a:spcBef>
                <a:spcPts val="1200"/>
              </a:spcBef>
              <a:spcAft>
                <a:spcPts val="0"/>
              </a:spcAft>
              <a:buSzPct val="100000"/>
              <a:buChar char="●"/>
            </a:pPr>
            <a:r>
              <a:rPr lang="en"/>
              <a:t>There are results across 4 different </a:t>
            </a:r>
            <a:r>
              <a:rPr lang="en"/>
              <a:t>classifiers that return the misattribution rates. The classifiers identifies which models are most vulnerable to evasion by outputting confidence scores. This addresses the goal of our research provided by our client in understanding which authorship attribution models are robust against code style evasion.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883738" y="1065125"/>
            <a:ext cx="28080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Original</a:t>
            </a:r>
            <a:endParaRPr/>
          </a:p>
        </p:txBody>
      </p:sp>
      <p:sp>
        <p:nvSpPr>
          <p:cNvPr id="84" name="Google Shape;84;p17"/>
          <p:cNvSpPr txBox="1"/>
          <p:nvPr>
            <p:ph type="title"/>
          </p:nvPr>
        </p:nvSpPr>
        <p:spPr>
          <a:xfrm>
            <a:off x="5454850" y="1065125"/>
            <a:ext cx="28080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Modified</a:t>
            </a:r>
            <a:endParaRPr/>
          </a:p>
        </p:txBody>
      </p:sp>
      <p:pic>
        <p:nvPicPr>
          <p:cNvPr id="85" name="Google Shape;85;p17"/>
          <p:cNvPicPr preferRelativeResize="0"/>
          <p:nvPr/>
        </p:nvPicPr>
        <p:blipFill>
          <a:blip r:embed="rId3">
            <a:alphaModFix/>
          </a:blip>
          <a:stretch>
            <a:fillRect/>
          </a:stretch>
        </p:blipFill>
        <p:spPr>
          <a:xfrm>
            <a:off x="102013" y="2060625"/>
            <a:ext cx="4371449" cy="2555325"/>
          </a:xfrm>
          <a:prstGeom prst="rect">
            <a:avLst/>
          </a:prstGeom>
          <a:noFill/>
          <a:ln>
            <a:noFill/>
          </a:ln>
        </p:spPr>
      </p:pic>
      <p:pic>
        <p:nvPicPr>
          <p:cNvPr id="86" name="Google Shape;86;p17" title="Screenshot 2025-11-05 152237.png"/>
          <p:cNvPicPr preferRelativeResize="0"/>
          <p:nvPr/>
        </p:nvPicPr>
        <p:blipFill>
          <a:blip r:embed="rId4">
            <a:alphaModFix/>
          </a:blip>
          <a:stretch>
            <a:fillRect/>
          </a:stretch>
        </p:blipFill>
        <p:spPr>
          <a:xfrm>
            <a:off x="4675724" y="2036125"/>
            <a:ext cx="4366276" cy="2604332"/>
          </a:xfrm>
          <a:prstGeom prst="rect">
            <a:avLst/>
          </a:prstGeom>
          <a:noFill/>
          <a:ln>
            <a:noFill/>
          </a:ln>
        </p:spPr>
      </p:pic>
      <p:sp>
        <p:nvSpPr>
          <p:cNvPr id="87" name="Google Shape;87;p17"/>
          <p:cNvSpPr txBox="1"/>
          <p:nvPr/>
        </p:nvSpPr>
        <p:spPr>
          <a:xfrm>
            <a:off x="1907400" y="363625"/>
            <a:ext cx="5329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dk1"/>
                </a:solidFill>
                <a:latin typeface="Average"/>
                <a:ea typeface="Average"/>
                <a:cs typeface="Average"/>
                <a:sym typeface="Average"/>
              </a:rPr>
              <a:t>Demo of Results</a:t>
            </a:r>
            <a:endParaRPr sz="3000">
              <a:solidFill>
                <a:schemeClr val="dk1"/>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Kanban Overview &amp; Team Contributions</a:t>
            </a:r>
            <a:endParaRPr/>
          </a:p>
        </p:txBody>
      </p:sp>
      <p:sp>
        <p:nvSpPr>
          <p:cNvPr id="93" name="Google Shape;9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Both Elang and Andrew were able to contribute to all reports and completing the Threat Model (Andrew - Model scope) (Elang - STRIDE Threats)</a:t>
            </a:r>
            <a:endParaRPr/>
          </a:p>
          <a:p>
            <a:pPr indent="-342900" lvl="0" marL="457200" rtl="0" algn="l">
              <a:spcBef>
                <a:spcPts val="0"/>
              </a:spcBef>
              <a:spcAft>
                <a:spcPts val="0"/>
              </a:spcAft>
              <a:buSzPts val="1800"/>
              <a:buChar char="-"/>
            </a:pPr>
            <a:r>
              <a:rPr lang="en"/>
              <a:t>Elang primarily executed our first baseline misattribution attack (Semantic </a:t>
            </a:r>
            <a:r>
              <a:rPr lang="en"/>
              <a:t>preserving</a:t>
            </a:r>
            <a:r>
              <a:rPr lang="en"/>
              <a:t> </a:t>
            </a:r>
            <a:r>
              <a:rPr lang="en"/>
              <a:t>transformations)</a:t>
            </a:r>
            <a:endParaRPr/>
          </a:p>
        </p:txBody>
      </p:sp>
      <p:pic>
        <p:nvPicPr>
          <p:cNvPr id="94" name="Google Shape;94;p18"/>
          <p:cNvPicPr preferRelativeResize="0"/>
          <p:nvPr/>
        </p:nvPicPr>
        <p:blipFill rotWithShape="1">
          <a:blip r:embed="rId3">
            <a:alphaModFix/>
          </a:blip>
          <a:srcRect b="0" l="-930" r="929" t="0"/>
          <a:stretch/>
        </p:blipFill>
        <p:spPr>
          <a:xfrm>
            <a:off x="1794700" y="1152475"/>
            <a:ext cx="5452826" cy="2055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Figma Prototype &amp; Client Feedback</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FF0000"/>
                </a:solidFill>
              </a:rPr>
              <a:t>Irrelevant since we are not working with any UI</a:t>
            </a:r>
            <a:endParaRPr>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Website Development on Wix, WordPress, or Similar Platform</a:t>
            </a:r>
            <a:endParaRPr/>
          </a:p>
        </p:txBody>
      </p:sp>
      <p:sp>
        <p:nvSpPr>
          <p:cNvPr id="106" name="Google Shape;10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FF0000"/>
                </a:solidFill>
              </a:rPr>
              <a:t>Irrelevant since we are not working on Web Development</a:t>
            </a:r>
            <a:endParaRPr>
              <a:solidFill>
                <a:srgbClr val="FF0000"/>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Architecture</a:t>
            </a:r>
            <a:endParaRPr/>
          </a:p>
        </p:txBody>
      </p:sp>
      <p:sp>
        <p:nvSpPr>
          <p:cNvPr id="112" name="Google Shape;112;p21"/>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Feature Overview: The adversarial stylometry system consists of six major </a:t>
            </a:r>
            <a:r>
              <a:rPr lang="en"/>
              <a:t>pipeline</a:t>
            </a:r>
            <a:r>
              <a:rPr lang="en"/>
              <a:t> stages that process code samples though data </a:t>
            </a:r>
            <a:r>
              <a:rPr lang="en"/>
              <a:t>collection</a:t>
            </a:r>
            <a:r>
              <a:rPr lang="en"/>
              <a:t>, feature engineering, model training, persistence, and adversarial evaluation.</a:t>
            </a:r>
            <a:endParaRPr/>
          </a:p>
          <a:p>
            <a:pPr indent="0" lvl="0" marL="0" rtl="0" algn="l">
              <a:spcBef>
                <a:spcPts val="1200"/>
              </a:spcBef>
              <a:spcAft>
                <a:spcPts val="0"/>
              </a:spcAft>
              <a:buNone/>
            </a:pPr>
            <a:r>
              <a:rPr lang="en"/>
              <a:t>Components &amp; Data Flow:</a:t>
            </a:r>
            <a:endParaRPr/>
          </a:p>
          <a:p>
            <a:pPr indent="-342900" lvl="0" marL="457200" rtl="0" algn="l">
              <a:spcBef>
                <a:spcPts val="1200"/>
              </a:spcBef>
              <a:spcAft>
                <a:spcPts val="0"/>
              </a:spcAft>
              <a:buSzPts val="1800"/>
              <a:buChar char="●"/>
            </a:pPr>
            <a:r>
              <a:rPr lang="en"/>
              <a:t>Data Layer -&gt; Data Processing -&gt; Feature Engineering -&gt; Model Training -&gt; Model Persistence -&gt; Testing &amp; Evaluation -&gt; </a:t>
            </a:r>
            <a:r>
              <a:rPr lang="en"/>
              <a:t>Output</a:t>
            </a:r>
            <a:r>
              <a:rPr lang="en"/>
              <a:t> Results</a:t>
            </a:r>
            <a:endParaRPr/>
          </a:p>
          <a:p>
            <a:pPr indent="0" lvl="0" marL="0" rtl="0" algn="l">
              <a:spcBef>
                <a:spcPts val="1200"/>
              </a:spcBef>
              <a:spcAft>
                <a:spcPts val="1200"/>
              </a:spcAft>
              <a:buNone/>
            </a:pPr>
            <a:r>
              <a:rPr lang="en">
                <a:solidFill>
                  <a:srgbClr val="FF0000"/>
                </a:solidFill>
              </a:rPr>
              <a:t>Database Design and UI Design NOT APPLICABLE! We don’t use either of those for this project!</a:t>
            </a:r>
            <a:endParaRPr>
              <a:solidFill>
                <a:srgbClr val="FF0000"/>
              </a:solidFill>
            </a:endParaRPr>
          </a:p>
        </p:txBody>
      </p:sp>
      <p:pic>
        <p:nvPicPr>
          <p:cNvPr id="113" name="Google Shape;113;p21" title="Untitled diagram-2025-11-05-200527.png"/>
          <p:cNvPicPr preferRelativeResize="0"/>
          <p:nvPr/>
        </p:nvPicPr>
        <p:blipFill>
          <a:blip r:embed="rId3">
            <a:alphaModFix/>
          </a:blip>
          <a:stretch>
            <a:fillRect/>
          </a:stretch>
        </p:blipFill>
        <p:spPr>
          <a:xfrm>
            <a:off x="0" y="3961367"/>
            <a:ext cx="9144003" cy="110281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13" y="58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Diagram of data flow (Enlarged image from </a:t>
            </a:r>
            <a:r>
              <a:rPr lang="en"/>
              <a:t>previous</a:t>
            </a:r>
            <a:r>
              <a:rPr lang="en"/>
              <a:t> slide)</a:t>
            </a:r>
            <a:endParaRPr/>
          </a:p>
        </p:txBody>
      </p:sp>
      <p:sp>
        <p:nvSpPr>
          <p:cNvPr id="119" name="Google Shape;11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0" name="Google Shape;120;p22"/>
          <p:cNvPicPr preferRelativeResize="0"/>
          <p:nvPr/>
        </p:nvPicPr>
        <p:blipFill>
          <a:blip r:embed="rId3">
            <a:alphaModFix/>
          </a:blip>
          <a:stretch>
            <a:fillRect/>
          </a:stretch>
        </p:blipFill>
        <p:spPr>
          <a:xfrm>
            <a:off x="784861" y="580725"/>
            <a:ext cx="7574326" cy="2454525"/>
          </a:xfrm>
          <a:prstGeom prst="rect">
            <a:avLst/>
          </a:prstGeom>
          <a:noFill/>
          <a:ln>
            <a:noFill/>
          </a:ln>
        </p:spPr>
      </p:pic>
      <p:pic>
        <p:nvPicPr>
          <p:cNvPr id="121" name="Google Shape;121;p22"/>
          <p:cNvPicPr preferRelativeResize="0"/>
          <p:nvPr/>
        </p:nvPicPr>
        <p:blipFill>
          <a:blip r:embed="rId4">
            <a:alphaModFix/>
          </a:blip>
          <a:stretch>
            <a:fillRect/>
          </a:stretch>
        </p:blipFill>
        <p:spPr>
          <a:xfrm>
            <a:off x="784838" y="3090124"/>
            <a:ext cx="7574325" cy="200881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Plan (In the future)</a:t>
            </a:r>
            <a:endParaRPr/>
          </a:p>
        </p:txBody>
      </p:sp>
      <p:sp>
        <p:nvSpPr>
          <p:cNvPr id="127" name="Google Shape;127;p23"/>
          <p:cNvSpPr txBox="1"/>
          <p:nvPr>
            <p:ph idx="1" type="body"/>
          </p:nvPr>
        </p:nvSpPr>
        <p:spPr>
          <a:xfrm>
            <a:off x="311700" y="1152475"/>
            <a:ext cx="8520600" cy="3805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We have not reached the phase where testing is relevant yet since we are still establishing baseline analyzations.</a:t>
            </a:r>
            <a:endParaRPr/>
          </a:p>
          <a:p>
            <a:pPr indent="0" lvl="0" marL="0" rtl="0" algn="l">
              <a:spcBef>
                <a:spcPts val="1200"/>
              </a:spcBef>
              <a:spcAft>
                <a:spcPts val="0"/>
              </a:spcAft>
              <a:buNone/>
            </a:pPr>
            <a:r>
              <a:rPr lang="en"/>
              <a:t>Unit Testing:</a:t>
            </a:r>
            <a:endParaRPr/>
          </a:p>
          <a:p>
            <a:pPr indent="-317182" lvl="0" marL="457200" rtl="0" algn="l">
              <a:spcBef>
                <a:spcPts val="1200"/>
              </a:spcBef>
              <a:spcAft>
                <a:spcPts val="0"/>
              </a:spcAft>
              <a:buSzPct val="100000"/>
              <a:buChar char="●"/>
            </a:pPr>
            <a:r>
              <a:rPr lang="en"/>
              <a:t>Validate model predictions on code samples</a:t>
            </a:r>
            <a:endParaRPr/>
          </a:p>
          <a:p>
            <a:pPr indent="-317182" lvl="0" marL="457200" rtl="0" algn="l">
              <a:spcBef>
                <a:spcPts val="0"/>
              </a:spcBef>
              <a:spcAft>
                <a:spcPts val="0"/>
              </a:spcAft>
              <a:buSzPct val="100000"/>
              <a:buChar char="●"/>
            </a:pPr>
            <a:r>
              <a:rPr lang="en"/>
              <a:t>Test </a:t>
            </a:r>
            <a:r>
              <a:rPr lang="en"/>
              <a:t>feature</a:t>
            </a:r>
            <a:r>
              <a:rPr lang="en"/>
              <a:t> extraction consistency</a:t>
            </a:r>
            <a:endParaRPr/>
          </a:p>
          <a:p>
            <a:pPr indent="-317182" lvl="0" marL="457200" rtl="0" algn="l">
              <a:spcBef>
                <a:spcPts val="0"/>
              </a:spcBef>
              <a:spcAft>
                <a:spcPts val="0"/>
              </a:spcAft>
              <a:buSzPct val="100000"/>
              <a:buChar char="●"/>
            </a:pPr>
            <a:r>
              <a:rPr lang="en"/>
              <a:t>Verify Confidence score outputs</a:t>
            </a:r>
            <a:endParaRPr/>
          </a:p>
          <a:p>
            <a:pPr indent="0" lvl="0" marL="0" rtl="0" algn="l">
              <a:spcBef>
                <a:spcPts val="1200"/>
              </a:spcBef>
              <a:spcAft>
                <a:spcPts val="0"/>
              </a:spcAft>
              <a:buNone/>
            </a:pPr>
            <a:r>
              <a:rPr lang="en"/>
              <a:t>Integration Testing:</a:t>
            </a:r>
            <a:endParaRPr/>
          </a:p>
          <a:p>
            <a:pPr indent="-317182" lvl="0" marL="457200" rtl="0" algn="l">
              <a:spcBef>
                <a:spcPts val="1200"/>
              </a:spcBef>
              <a:spcAft>
                <a:spcPts val="0"/>
              </a:spcAft>
              <a:buSzPct val="100000"/>
              <a:buChar char="●"/>
            </a:pPr>
            <a:r>
              <a:rPr lang="en"/>
              <a:t>Verify prediction changes after code modifications</a:t>
            </a:r>
            <a:endParaRPr/>
          </a:p>
          <a:p>
            <a:pPr indent="0" lvl="0" marL="0" rtl="0" algn="l">
              <a:spcBef>
                <a:spcPts val="1200"/>
              </a:spcBef>
              <a:spcAft>
                <a:spcPts val="0"/>
              </a:spcAft>
              <a:buNone/>
            </a:pPr>
            <a:r>
              <a:rPr lang="en"/>
              <a:t>System Testing:</a:t>
            </a:r>
            <a:endParaRPr/>
          </a:p>
          <a:p>
            <a:pPr indent="-317182" lvl="0" marL="457200" rtl="0" algn="l">
              <a:spcBef>
                <a:spcPts val="1200"/>
              </a:spcBef>
              <a:spcAft>
                <a:spcPts val="0"/>
              </a:spcAft>
              <a:buSzPct val="100000"/>
              <a:buChar char="●"/>
            </a:pPr>
            <a:r>
              <a:rPr lang="en"/>
              <a:t>Evasion Rate </a:t>
            </a:r>
            <a:r>
              <a:rPr lang="en"/>
              <a:t>Measurement</a:t>
            </a:r>
            <a:r>
              <a:rPr lang="en"/>
              <a:t>: </a:t>
            </a:r>
            <a:r>
              <a:rPr lang="en"/>
              <a:t>Percentage</a:t>
            </a:r>
            <a:r>
              <a:rPr lang="en"/>
              <a:t> of samples where true author is no longer correctly identified after modification.</a:t>
            </a:r>
            <a:endParaRPr/>
          </a:p>
          <a:p>
            <a:pPr indent="-317182" lvl="0" marL="457200" rtl="0" algn="l">
              <a:spcBef>
                <a:spcPts val="0"/>
              </a:spcBef>
              <a:spcAft>
                <a:spcPts val="0"/>
              </a:spcAft>
              <a:buSzPct val="100000"/>
              <a:buChar char="●"/>
            </a:pPr>
            <a:r>
              <a:rPr lang="en"/>
              <a:t>Confidence Score Analysis: Track how confidence drops when adversarial modifications are made</a:t>
            </a:r>
            <a:endParaRPr/>
          </a:p>
          <a:p>
            <a:pPr indent="-317182" lvl="0" marL="457200" rtl="0" algn="l">
              <a:spcBef>
                <a:spcPts val="0"/>
              </a:spcBef>
              <a:spcAft>
                <a:spcPts val="0"/>
              </a:spcAft>
              <a:buSzPct val="100000"/>
              <a:buChar char="●"/>
            </a:pPr>
            <a:r>
              <a:rPr lang="en"/>
              <a:t>Model Comparison: Compare which classifiers are most/least vulnerable to evasion</a:t>
            </a:r>
            <a:endParaRPr/>
          </a:p>
          <a:p>
            <a:pPr indent="-317182" lvl="0" marL="457200" rtl="0" algn="l">
              <a:spcBef>
                <a:spcPts val="0"/>
              </a:spcBef>
              <a:spcAft>
                <a:spcPts val="0"/>
              </a:spcAft>
              <a:buSzPct val="100000"/>
              <a:buChar char="●"/>
            </a:pPr>
            <a:r>
              <a:rPr lang="en"/>
              <a:t>Root Cause Analysis: Identify which code transformations are most effective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Sprint Achievements and Challenges </a:t>
            </a:r>
            <a:endParaRPr/>
          </a:p>
        </p:txBody>
      </p:sp>
      <p:sp>
        <p:nvSpPr>
          <p:cNvPr id="133" name="Google Shape;13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Achievements</a:t>
            </a:r>
            <a:r>
              <a:rPr lang="en"/>
              <a:t>:</a:t>
            </a:r>
            <a:endParaRPr/>
          </a:p>
          <a:p>
            <a:pPr indent="-342900" lvl="0" marL="457200" rtl="0" algn="l">
              <a:spcBef>
                <a:spcPts val="1200"/>
              </a:spcBef>
              <a:spcAft>
                <a:spcPts val="0"/>
              </a:spcAft>
              <a:buSzPts val="1800"/>
              <a:buChar char="●"/>
            </a:pPr>
            <a:r>
              <a:rPr lang="en"/>
              <a:t>Completed Threat Model Documentation</a:t>
            </a:r>
            <a:endParaRPr/>
          </a:p>
          <a:p>
            <a:pPr indent="-342900" lvl="0" marL="457200" rtl="0" algn="l">
              <a:spcBef>
                <a:spcPts val="0"/>
              </a:spcBef>
              <a:spcAft>
                <a:spcPts val="0"/>
              </a:spcAft>
              <a:buSzPts val="1800"/>
              <a:buChar char="●"/>
            </a:pPr>
            <a:r>
              <a:rPr lang="en"/>
              <a:t>Achieved</a:t>
            </a:r>
            <a:r>
              <a:rPr lang="en"/>
              <a:t> proof of concept misattribution</a:t>
            </a:r>
            <a:endParaRPr/>
          </a:p>
          <a:p>
            <a:pPr indent="-317500" lvl="1" marL="914400" rtl="0" algn="l">
              <a:spcBef>
                <a:spcPts val="0"/>
              </a:spcBef>
              <a:spcAft>
                <a:spcPts val="0"/>
              </a:spcAft>
              <a:buSzPts val="1400"/>
              <a:buChar char="○"/>
            </a:pPr>
            <a:r>
              <a:rPr lang="en"/>
              <a:t>Successfully</a:t>
            </a:r>
            <a:r>
              <a:rPr lang="en"/>
              <a:t> evade 3 out 4 classifiers</a:t>
            </a:r>
            <a:endParaRPr/>
          </a:p>
          <a:p>
            <a:pPr indent="-342900" lvl="0" marL="457200" rtl="0" algn="l">
              <a:spcBef>
                <a:spcPts val="0"/>
              </a:spcBef>
              <a:spcAft>
                <a:spcPts val="0"/>
              </a:spcAft>
              <a:buSzPts val="1800"/>
              <a:buChar char="●"/>
            </a:pPr>
            <a:r>
              <a:rPr lang="en"/>
              <a:t>Planned Testing Infrastructure</a:t>
            </a:r>
            <a:endParaRPr/>
          </a:p>
          <a:p>
            <a:pPr indent="0" lvl="0" marL="0" rtl="0" algn="l">
              <a:spcBef>
                <a:spcPts val="1200"/>
              </a:spcBef>
              <a:spcAft>
                <a:spcPts val="0"/>
              </a:spcAft>
              <a:buNone/>
            </a:pPr>
            <a:r>
              <a:rPr lang="en"/>
              <a:t>Challenges Faced:</a:t>
            </a:r>
            <a:endParaRPr/>
          </a:p>
          <a:p>
            <a:pPr indent="-342900" lvl="0" marL="457200" rtl="0" algn="l">
              <a:spcBef>
                <a:spcPts val="1200"/>
              </a:spcBef>
              <a:spcAft>
                <a:spcPts val="0"/>
              </a:spcAft>
              <a:buSzPts val="1800"/>
              <a:buChar char="●"/>
            </a:pPr>
            <a:r>
              <a:rPr lang="en"/>
              <a:t>Client communication delays</a:t>
            </a:r>
            <a:endParaRPr/>
          </a:p>
          <a:p>
            <a:pPr indent="-317500" lvl="1" marL="914400" rtl="0" algn="l">
              <a:spcBef>
                <a:spcPts val="0"/>
              </a:spcBef>
              <a:spcAft>
                <a:spcPts val="0"/>
              </a:spcAft>
              <a:buSzPts val="1400"/>
              <a:buChar char="○"/>
            </a:pPr>
            <a:r>
              <a:rPr lang="en"/>
              <a:t>Solution: We are back to weekly communications</a:t>
            </a:r>
            <a:endParaRPr/>
          </a:p>
          <a:p>
            <a:pPr indent="-342900" lvl="0" marL="457200" rtl="0" algn="l">
              <a:spcBef>
                <a:spcPts val="0"/>
              </a:spcBef>
              <a:spcAft>
                <a:spcPts val="0"/>
              </a:spcAft>
              <a:buSzPts val="1800"/>
              <a:buChar char="●"/>
            </a:pPr>
            <a:r>
              <a:rPr lang="en"/>
              <a:t>Understanding existing code base given by client</a:t>
            </a:r>
            <a:endParaRPr/>
          </a:p>
          <a:p>
            <a:pPr indent="-317500" lvl="1" marL="914400" rtl="0" algn="l">
              <a:spcBef>
                <a:spcPts val="0"/>
              </a:spcBef>
              <a:spcAft>
                <a:spcPts val="0"/>
              </a:spcAft>
              <a:buSzPts val="1400"/>
              <a:buChar char="○"/>
            </a:pPr>
            <a:r>
              <a:rPr lang="en"/>
              <a:t>Solution: Have a meeting dedicated to understanding the code and the </a:t>
            </a:r>
            <a:r>
              <a:rPr lang="en"/>
              <a:t>overall</a:t>
            </a:r>
            <a:r>
              <a:rPr lang="en"/>
              <a:t> pipeline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 and Sprint Retrospective </a:t>
            </a:r>
            <a:endParaRPr/>
          </a:p>
        </p:txBody>
      </p:sp>
      <p:sp>
        <p:nvSpPr>
          <p:cNvPr id="139" name="Google Shape;139;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5120" lvl="0" marL="457200" rtl="0" algn="l">
              <a:lnSpc>
                <a:spcPct val="115000"/>
              </a:lnSpc>
              <a:spcBef>
                <a:spcPts val="0"/>
              </a:spcBef>
              <a:spcAft>
                <a:spcPts val="0"/>
              </a:spcAft>
              <a:buSzPts val="1520"/>
              <a:buChar char="-"/>
            </a:pPr>
            <a:r>
              <a:rPr lang="en" sz="1520"/>
              <a:t>Our next steps will focus on exploring more misattribution attack:</a:t>
            </a:r>
            <a:endParaRPr sz="1520"/>
          </a:p>
          <a:p>
            <a:pPr indent="-314960" lvl="1" marL="914400" rtl="0" algn="l">
              <a:lnSpc>
                <a:spcPct val="115000"/>
              </a:lnSpc>
              <a:spcBef>
                <a:spcPts val="0"/>
              </a:spcBef>
              <a:spcAft>
                <a:spcPts val="0"/>
              </a:spcAft>
              <a:buSzPts val="1360"/>
              <a:buChar char="-"/>
            </a:pPr>
            <a:r>
              <a:rPr lang="en" sz="1360"/>
              <a:t>Mimicry</a:t>
            </a:r>
            <a:endParaRPr sz="1360"/>
          </a:p>
          <a:p>
            <a:pPr indent="-314960" lvl="1" marL="914400" rtl="0" algn="l">
              <a:lnSpc>
                <a:spcPct val="115000"/>
              </a:lnSpc>
              <a:spcBef>
                <a:spcPts val="0"/>
              </a:spcBef>
              <a:spcAft>
                <a:spcPts val="0"/>
              </a:spcAft>
              <a:buSzPts val="1360"/>
              <a:buChar char="-"/>
            </a:pPr>
            <a:r>
              <a:rPr lang="en" sz="1360"/>
              <a:t>Semantic-</a:t>
            </a:r>
            <a:r>
              <a:rPr lang="en" sz="1360"/>
              <a:t>preserving</a:t>
            </a:r>
            <a:r>
              <a:rPr lang="en" sz="1360"/>
              <a:t> </a:t>
            </a:r>
            <a:r>
              <a:rPr lang="en" sz="1360"/>
              <a:t>transformations</a:t>
            </a:r>
            <a:endParaRPr sz="1360"/>
          </a:p>
          <a:p>
            <a:pPr indent="-314960" lvl="1" marL="914400" rtl="0" algn="l">
              <a:lnSpc>
                <a:spcPct val="115000"/>
              </a:lnSpc>
              <a:spcBef>
                <a:spcPts val="0"/>
              </a:spcBef>
              <a:spcAft>
                <a:spcPts val="0"/>
              </a:spcAft>
              <a:buSzPts val="1360"/>
              <a:buChar char="-"/>
            </a:pPr>
            <a:r>
              <a:rPr lang="en" sz="1360"/>
              <a:t>Automated Pipelines</a:t>
            </a:r>
            <a:endParaRPr sz="1360"/>
          </a:p>
          <a:p>
            <a:pPr indent="-325120" lvl="0" marL="457200" rtl="0" algn="l">
              <a:lnSpc>
                <a:spcPct val="115000"/>
              </a:lnSpc>
              <a:spcBef>
                <a:spcPts val="0"/>
              </a:spcBef>
              <a:spcAft>
                <a:spcPts val="0"/>
              </a:spcAft>
              <a:buSzPts val="1520"/>
              <a:buChar char="-"/>
            </a:pPr>
            <a:r>
              <a:rPr lang="en" sz="1520"/>
              <a:t>What went well:</a:t>
            </a:r>
            <a:endParaRPr sz="1520"/>
          </a:p>
          <a:p>
            <a:pPr indent="-314960" lvl="1" marL="914400" rtl="0" algn="l">
              <a:lnSpc>
                <a:spcPct val="115000"/>
              </a:lnSpc>
              <a:spcBef>
                <a:spcPts val="0"/>
              </a:spcBef>
              <a:spcAft>
                <a:spcPts val="0"/>
              </a:spcAft>
              <a:buSzPts val="1360"/>
              <a:buChar char="-"/>
            </a:pPr>
            <a:r>
              <a:rPr lang="en" sz="1360"/>
              <a:t>Core stylometry Model working</a:t>
            </a:r>
            <a:endParaRPr sz="1360"/>
          </a:p>
          <a:p>
            <a:pPr indent="-314960" lvl="1" marL="914400" rtl="0" algn="l">
              <a:lnSpc>
                <a:spcPct val="115000"/>
              </a:lnSpc>
              <a:spcBef>
                <a:spcPts val="0"/>
              </a:spcBef>
              <a:spcAft>
                <a:spcPts val="0"/>
              </a:spcAft>
              <a:buSzPts val="1360"/>
              <a:buChar char="-"/>
            </a:pPr>
            <a:r>
              <a:rPr lang="en" sz="1360"/>
              <a:t>Performed baseline </a:t>
            </a:r>
            <a:r>
              <a:rPr lang="en" sz="1360"/>
              <a:t>misattribution</a:t>
            </a:r>
            <a:r>
              <a:rPr lang="en" sz="1360"/>
              <a:t> attack to reveal </a:t>
            </a:r>
            <a:r>
              <a:rPr lang="en" sz="1360"/>
              <a:t>vulnerabilities</a:t>
            </a:r>
            <a:endParaRPr sz="1360"/>
          </a:p>
          <a:p>
            <a:pPr indent="-325120" lvl="0" marL="457200" rtl="0" algn="l">
              <a:lnSpc>
                <a:spcPct val="115000"/>
              </a:lnSpc>
              <a:spcBef>
                <a:spcPts val="0"/>
              </a:spcBef>
              <a:spcAft>
                <a:spcPts val="0"/>
              </a:spcAft>
              <a:buSzPts val="1520"/>
              <a:buChar char="-"/>
            </a:pPr>
            <a:r>
              <a:rPr lang="en" sz="1520"/>
              <a:t>What could be improved:</a:t>
            </a:r>
            <a:endParaRPr sz="1520"/>
          </a:p>
          <a:p>
            <a:pPr indent="-314960" lvl="1" marL="914400" rtl="0" algn="l">
              <a:lnSpc>
                <a:spcPct val="115000"/>
              </a:lnSpc>
              <a:spcBef>
                <a:spcPts val="0"/>
              </a:spcBef>
              <a:spcAft>
                <a:spcPts val="0"/>
              </a:spcAft>
              <a:buSzPts val="1360"/>
              <a:buChar char="-"/>
            </a:pPr>
            <a:r>
              <a:rPr lang="en" sz="1360"/>
              <a:t>Attack generation was manual and could be automated</a:t>
            </a:r>
            <a:endParaRPr sz="1360"/>
          </a:p>
          <a:p>
            <a:pPr indent="-314960" lvl="1" marL="914400" rtl="0" algn="l">
              <a:lnSpc>
                <a:spcPct val="115000"/>
              </a:lnSpc>
              <a:spcBef>
                <a:spcPts val="0"/>
              </a:spcBef>
              <a:spcAft>
                <a:spcPts val="0"/>
              </a:spcAft>
              <a:buSzPts val="1360"/>
              <a:buChar char="-"/>
            </a:pPr>
            <a:r>
              <a:rPr lang="en" sz="1360"/>
              <a:t>Broaden attack approaches</a:t>
            </a:r>
            <a:endParaRPr sz="1360"/>
          </a:p>
          <a:p>
            <a:pPr indent="-325120" lvl="0" marL="457200" rtl="0" algn="l">
              <a:lnSpc>
                <a:spcPct val="115000"/>
              </a:lnSpc>
              <a:spcBef>
                <a:spcPts val="0"/>
              </a:spcBef>
              <a:spcAft>
                <a:spcPts val="0"/>
              </a:spcAft>
              <a:buSzPts val="1520"/>
              <a:buChar char="-"/>
            </a:pPr>
            <a:r>
              <a:rPr lang="en" sz="1520"/>
              <a:t>Client feedback consideration:</a:t>
            </a:r>
            <a:endParaRPr sz="1520"/>
          </a:p>
          <a:p>
            <a:pPr indent="-314960" lvl="1" marL="914400" rtl="0" algn="l">
              <a:lnSpc>
                <a:spcPct val="115000"/>
              </a:lnSpc>
              <a:spcBef>
                <a:spcPts val="0"/>
              </a:spcBef>
              <a:spcAft>
                <a:spcPts val="0"/>
              </a:spcAft>
              <a:buSzPts val="1360"/>
              <a:buChar char="-"/>
            </a:pPr>
            <a:r>
              <a:rPr lang="en" sz="1360"/>
              <a:t>Adopted a formal threat model framework (STRIDE/OWASP) and attacker level taxonomy</a:t>
            </a:r>
            <a:endParaRPr sz="1360"/>
          </a:p>
          <a:p>
            <a:pPr indent="-314960" lvl="1" marL="914400" rtl="0" algn="l">
              <a:lnSpc>
                <a:spcPct val="115000"/>
              </a:lnSpc>
              <a:spcBef>
                <a:spcPts val="0"/>
              </a:spcBef>
              <a:spcAft>
                <a:spcPts val="0"/>
              </a:spcAft>
              <a:buSzPts val="1360"/>
              <a:buChar char="-"/>
            </a:pPr>
            <a:r>
              <a:rPr lang="en" sz="1360"/>
              <a:t>Explicitly scoped out data poisoning per client direction now focusing more on input manipulation and mimicry</a:t>
            </a:r>
            <a:endParaRPr sz="1360"/>
          </a:p>
          <a:p>
            <a:pPr indent="0" lvl="0" marL="0" rtl="0" algn="l">
              <a:lnSpc>
                <a:spcPct val="115000"/>
              </a:lnSpc>
              <a:spcBef>
                <a:spcPts val="1200"/>
              </a:spcBef>
              <a:spcAft>
                <a:spcPts val="0"/>
              </a:spcAft>
              <a:buSzPts val="440"/>
              <a:buNone/>
            </a:pPr>
            <a:r>
              <a:t/>
            </a:r>
            <a:endParaRPr sz="1520"/>
          </a:p>
          <a:p>
            <a:pPr indent="0" lvl="0" marL="0" rtl="0" algn="l">
              <a:lnSpc>
                <a:spcPct val="115000"/>
              </a:lnSpc>
              <a:spcBef>
                <a:spcPts val="1200"/>
              </a:spcBef>
              <a:spcAft>
                <a:spcPts val="1200"/>
              </a:spcAft>
              <a:buSzPts val="440"/>
              <a:buNone/>
            </a:pPr>
            <a:r>
              <a:rPr lang="en" sz="1520"/>
              <a:t> </a:t>
            </a:r>
            <a:endParaRPr sz="152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t>
            </a:r>
            <a:endParaRPr/>
          </a:p>
        </p:txBody>
      </p:sp>
      <p:sp>
        <p:nvSpPr>
          <p:cNvPr id="145" name="Google Shape;14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Summary</a:t>
            </a:r>
            <a:endParaRPr/>
          </a:p>
          <a:p>
            <a:pPr indent="-317500" lvl="1" marL="914400" rtl="0" algn="l">
              <a:spcBef>
                <a:spcPts val="0"/>
              </a:spcBef>
              <a:spcAft>
                <a:spcPts val="0"/>
              </a:spcAft>
              <a:buSzPts val="1400"/>
              <a:buChar char="-"/>
            </a:pPr>
            <a:r>
              <a:rPr lang="en"/>
              <a:t>Finalized the Stylometry Model and </a:t>
            </a:r>
            <a:r>
              <a:rPr lang="en"/>
              <a:t>conducted</a:t>
            </a:r>
            <a:r>
              <a:rPr lang="en"/>
              <a:t> </a:t>
            </a:r>
            <a:r>
              <a:rPr lang="en"/>
              <a:t>initial</a:t>
            </a:r>
            <a:r>
              <a:rPr lang="en"/>
              <a:t> </a:t>
            </a:r>
            <a:r>
              <a:rPr lang="en"/>
              <a:t>misattribution</a:t>
            </a:r>
            <a:r>
              <a:rPr lang="en"/>
              <a:t> attack</a:t>
            </a:r>
            <a:endParaRPr/>
          </a:p>
          <a:p>
            <a:pPr indent="-317500" lvl="1" marL="914400" rtl="0" algn="l">
              <a:spcBef>
                <a:spcPts val="0"/>
              </a:spcBef>
              <a:spcAft>
                <a:spcPts val="0"/>
              </a:spcAft>
              <a:buSzPts val="1400"/>
              <a:buChar char="-"/>
            </a:pPr>
            <a:r>
              <a:rPr lang="en"/>
              <a:t>Completed Formal Threat Model outlining attacker capabilities</a:t>
            </a:r>
            <a:endParaRPr/>
          </a:p>
          <a:p>
            <a:pPr indent="-317500" lvl="1" marL="914400" rtl="0" algn="l">
              <a:spcBef>
                <a:spcPts val="0"/>
              </a:spcBef>
              <a:spcAft>
                <a:spcPts val="0"/>
              </a:spcAft>
              <a:buSzPts val="1400"/>
              <a:buChar char="-"/>
            </a:pPr>
            <a:r>
              <a:rPr lang="en"/>
              <a:t>Demonstrated clear progress in model evaluation and attack understanding</a:t>
            </a:r>
            <a:endParaRPr/>
          </a:p>
          <a:p>
            <a:pPr indent="-317500" lvl="1" marL="914400" rtl="0" algn="l">
              <a:spcBef>
                <a:spcPts val="0"/>
              </a:spcBef>
              <a:spcAft>
                <a:spcPts val="0"/>
              </a:spcAft>
              <a:buSzPts val="1400"/>
              <a:buChar char="-"/>
            </a:pPr>
            <a:r>
              <a:rPr lang="en"/>
              <a:t>Look to focus on </a:t>
            </a:r>
            <a:r>
              <a:rPr lang="en"/>
              <a:t>advanced</a:t>
            </a:r>
            <a:r>
              <a:rPr lang="en"/>
              <a:t> </a:t>
            </a:r>
            <a:r>
              <a:rPr lang="en"/>
              <a:t>misattribution</a:t>
            </a:r>
            <a:r>
              <a:rPr lang="en"/>
              <a:t> attacks</a:t>
            </a:r>
            <a:endParaRPr/>
          </a:p>
          <a:p>
            <a:pPr indent="-317500" lvl="1" marL="914400" rtl="0" algn="l">
              <a:spcBef>
                <a:spcPts val="0"/>
              </a:spcBef>
              <a:spcAft>
                <a:spcPts val="0"/>
              </a:spcAft>
              <a:buSzPts val="1400"/>
              <a:buChar char="-"/>
            </a:pPr>
            <a:r>
              <a:rPr lang="en"/>
              <a:t>Automate attack pipeline and evaluate model robustness</a:t>
            </a:r>
            <a:endParaRPr/>
          </a:p>
          <a:p>
            <a:pPr indent="-342900" lvl="0" marL="457200" rtl="0" algn="l">
              <a:spcBef>
                <a:spcPts val="0"/>
              </a:spcBef>
              <a:spcAft>
                <a:spcPts val="0"/>
              </a:spcAft>
              <a:buSzPts val="1800"/>
              <a:buChar char="-"/>
            </a:pPr>
            <a:r>
              <a:rPr lang="en"/>
              <a:t>Thank You</a:t>
            </a:r>
            <a:endParaRPr/>
          </a:p>
          <a:p>
            <a:pPr indent="-317500" lvl="1" marL="914400" rtl="0" algn="l">
              <a:spcBef>
                <a:spcPts val="0"/>
              </a:spcBef>
              <a:spcAft>
                <a:spcPts val="0"/>
              </a:spcAft>
              <a:buSzPts val="1400"/>
              <a:buChar char="-"/>
            </a:pPr>
            <a:r>
              <a:rPr lang="en"/>
              <a:t>Thank you to Tashi and Parteek for your continued feedback and support</a:t>
            </a:r>
            <a:endParaRPr/>
          </a:p>
          <a:p>
            <a:pPr indent="-317500" lvl="1" marL="914400" rtl="0" algn="l">
              <a:spcBef>
                <a:spcPts val="0"/>
              </a:spcBef>
              <a:spcAft>
                <a:spcPts val="0"/>
              </a:spcAft>
              <a:buSzPts val="1400"/>
              <a:buChar char="-"/>
            </a:pPr>
            <a:r>
              <a:rPr lang="en"/>
              <a:t>We look forward to sharing Sprint 3 results and results and welcome any feedback or suggestions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